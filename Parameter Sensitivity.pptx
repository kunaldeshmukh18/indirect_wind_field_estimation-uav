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6" r:id="rId9"/>
    <p:sldId id="268" r:id="rId10"/>
    <p:sldId id="270" r:id="rId11"/>
    <p:sldId id="272" r:id="rId12"/>
    <p:sldId id="274" r:id="rId13"/>
    <p:sldId id="276" r:id="rId14"/>
    <p:sldId id="277" r:id="rId15"/>
    <p:sldId id="278" r:id="rId16"/>
    <p:sldId id="280" r:id="rId17"/>
    <p:sldId id="282" r:id="rId18"/>
    <p:sldId id="284" r:id="rId19"/>
    <p:sldId id="286" r:id="rId20"/>
    <p:sldId id="288" r:id="rId21"/>
    <p:sldId id="290" r:id="rId22"/>
    <p:sldId id="292" r:id="rId23"/>
    <p:sldId id="294" r:id="rId24"/>
    <p:sldId id="295" r:id="rId25"/>
    <p:sldId id="296" r:id="rId26"/>
    <p:sldId id="298" r:id="rId27"/>
    <p:sldId id="300" r:id="rId28"/>
    <p:sldId id="302" r:id="rId29"/>
    <p:sldId id="304" r:id="rId30"/>
    <p:sldId id="306" r:id="rId31"/>
    <p:sldId id="308" r:id="rId32"/>
    <p:sldId id="310" r:id="rId33"/>
    <p:sldId id="312" r:id="rId34"/>
    <p:sldId id="313" r:id="rId35"/>
    <p:sldId id="314" r:id="rId36"/>
    <p:sldId id="315" r:id="rId37"/>
    <p:sldId id="316" r:id="rId38"/>
    <p:sldId id="318" r:id="rId39"/>
    <p:sldId id="319" r:id="rId40"/>
    <p:sldId id="317" r:id="rId41"/>
    <p:sldId id="324" r:id="rId42"/>
    <p:sldId id="325" r:id="rId43"/>
    <p:sldId id="326" r:id="rId44"/>
    <p:sldId id="327" r:id="rId45"/>
    <p:sldId id="328" r:id="rId46"/>
    <p:sldId id="329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721"/>
    <p:restoredTop sz="94690"/>
  </p:normalViewPr>
  <p:slideViewPr>
    <p:cSldViewPr snapToGrid="0">
      <p:cViewPr varScale="1">
        <p:scale>
          <a:sx n="85" d="100"/>
          <a:sy n="85" d="100"/>
        </p:scale>
        <p:origin x="176" y="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BCAFD-3482-7D1F-6228-F9044AB65B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CB7C8D-82B6-48F6-09A4-1D3A72FA73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B1639-F1D0-F996-2774-1FB8C3E01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B6649-E054-274B-B5FD-C974C1AE67C9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6CF8F-9E8D-CB45-6E27-C8F8E0E07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64FFE-2CFE-B415-2BC5-52F1E353F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76187-3464-274B-BCA8-61D10DFBD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12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9D8CE-9D45-716A-978A-4122C9BCC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5C3EA-9EC5-84B0-54BA-42D4537C8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DB7AD-5AF3-0907-C2CD-E03B11E5D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B6649-E054-274B-B5FD-C974C1AE67C9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D4141-EA3A-1968-87A7-509209F77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9573F-B86E-1FE5-CCC3-F4127FCE0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76187-3464-274B-BCA8-61D10DFBD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577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AF538-4924-50E7-9883-4ABA051AC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47A946-C158-162A-2881-FEF7604C6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B78AD-B868-84C0-F64B-E7CC186EC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B6649-E054-274B-B5FD-C974C1AE67C9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A0097-8D5D-125E-0DDA-01B0E83D9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C45D0-57F2-AA91-F233-879B59B66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76187-3464-274B-BCA8-61D10DFBD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857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2B9B3-2823-1780-EF4A-E0EC2A301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10EEE-BFFD-F666-BEB5-252DE4B5BB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8E5740-69D4-06EC-E464-79D217AC07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9D59A1-5C9D-ED8D-4CA7-B6BF23603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B6649-E054-274B-B5FD-C974C1AE67C9}" type="datetimeFigureOut">
              <a:rPr lang="en-US" smtClean="0"/>
              <a:t>8/7/26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2D5107-EC77-AA99-D5A4-A0920235B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5809BD-6620-CC5D-08A4-533771A52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76187-3464-274B-BCA8-61D10DFBD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731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EB787-D1BB-5CC0-FBE5-E0B103181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01E2CE-34D3-7024-6D38-A32317534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2B2E9F-1BBB-239C-1F82-9AA3A78E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9F401B-756C-1B65-573D-E9C89DAD44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D9EEBA-CAE9-B317-B5B5-6C8211E3FB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912F43-7830-CFBC-76A0-2C2848E79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B6649-E054-274B-B5FD-C974C1AE67C9}" type="datetimeFigureOut">
              <a:rPr lang="en-US" smtClean="0"/>
              <a:t>8/7/26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F97CD4-4498-8E71-46A7-3F9ED2126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F3EA5A-96AF-AC7F-0AA8-538F33024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76187-3464-274B-BCA8-61D10DFBD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925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11E7F-C584-6ADB-A63C-0C05EC23A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85521B-A2E2-1994-D892-199C50E64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B6649-E054-274B-B5FD-C974C1AE67C9}" type="datetimeFigureOut">
              <a:rPr lang="en-US" smtClean="0"/>
              <a:t>8/7/26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15B258-69F6-0D7A-744D-FF4602BBD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4B5F2B-D003-C3D7-2AC8-8A8AE20F8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76187-3464-274B-BCA8-61D10DFBD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145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890CCD-84C0-3CAD-E042-FAD9D0A17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B6649-E054-274B-B5FD-C974C1AE67C9}" type="datetimeFigureOut">
              <a:rPr lang="en-US" smtClean="0"/>
              <a:t>8/7/26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46E645-FEB7-22CE-6745-2160A1D73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A2880-77A2-39E8-F623-2395D0765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76187-3464-274B-BCA8-61D10DFBD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715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43AEE-7AB8-1368-F434-E91788922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82412-FCCF-5E27-3A3C-502DE436F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F5ED4F-AC3F-EADD-2DB2-23F131097D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B8AA28-99D3-7432-2064-774F94E8D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B6649-E054-274B-B5FD-C974C1AE67C9}" type="datetimeFigureOut">
              <a:rPr lang="en-US" smtClean="0"/>
              <a:t>8/7/26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1F8B63-267C-9D2F-2EF7-3DFDBF4AA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A9F70B-DC39-1330-6023-4FDDF3B14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76187-3464-274B-BCA8-61D10DFBD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910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9BB69-1826-8CB1-AF2C-06DDFAFB1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BC4235-7872-80E6-9FD0-4DC28D4DCC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E6D85E-D77B-B291-5A11-6B64D540B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BFAD9-A32E-2617-40A6-3D0C14673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B6649-E054-274B-B5FD-C974C1AE67C9}" type="datetimeFigureOut">
              <a:rPr lang="en-US" smtClean="0"/>
              <a:t>8/7/26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7E468E-CE88-003D-4AD3-CF6CA9C26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E1724B-57C4-5966-1D4B-8982F7025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76187-3464-274B-BCA8-61D10DFBD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222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1FDDE-908E-ED87-CED2-69C00734C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AD6E3E-93B0-DDE0-B2C8-E4C25053C5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5CAA1-CE01-9D1B-9716-52DDB254A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B6649-E054-274B-B5FD-C974C1AE67C9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12BCF-F245-98AA-3534-9E516BF1C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BADF3-CD5D-E058-F5C5-A187CA483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76187-3464-274B-BCA8-61D10DFBD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928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F81E51-EB92-F43C-C2C5-07C00E16A4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BBC305-8F1E-16A1-6D69-C106BF526A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0748D-879A-CF2F-AF5D-6FD19854E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B6649-E054-274B-B5FD-C974C1AE67C9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A5683-DE03-1A6D-4BEF-3965F598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E8377-0095-C18F-A17C-F40968388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76187-3464-274B-BCA8-61D10DFBD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396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21EF0E-DDFF-27CA-81F8-714717ED5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603432-4047-96D0-6874-7E8853A4A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DE50B2-3A12-81A4-A7AC-3CEA6F6874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4B6649-E054-274B-B5FD-C974C1AE67C9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33548-D4EE-3234-BCAC-BA81458028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EA3AC-B6B0-F7BA-EFF7-D5FE0D900C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576187-3464-274B-BCA8-61D10DFBD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129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AB02D-A464-726A-2A3B-0660793EB4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32435"/>
            <a:ext cx="9144000" cy="2977528"/>
          </a:xfrm>
        </p:spPr>
        <p:txBody>
          <a:bodyPr>
            <a:normAutofit/>
          </a:bodyPr>
          <a:lstStyle/>
          <a:p>
            <a:r>
              <a:rPr lang="en-US" dirty="0"/>
              <a:t>Indirect Wind-Field Estimation by UAV: </a:t>
            </a:r>
            <a:br>
              <a:rPr lang="en-US" dirty="0"/>
            </a:br>
            <a:r>
              <a:rPr lang="en-US" dirty="0"/>
              <a:t>Drone Simulation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9E1CAD-B829-775B-516B-9490B670CF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77542"/>
            <a:ext cx="9144000" cy="1655762"/>
          </a:xfrm>
        </p:spPr>
        <p:txBody>
          <a:bodyPr/>
          <a:lstStyle/>
          <a:p>
            <a:r>
              <a:rPr lang="en-US" dirty="0"/>
              <a:t>Written By: Kunal Deshmukh</a:t>
            </a:r>
          </a:p>
          <a:p>
            <a:r>
              <a:rPr lang="en-US" dirty="0"/>
              <a:t>Advisor: Dr. Geordan </a:t>
            </a:r>
            <a:r>
              <a:rPr lang="en-US" dirty="0" err="1"/>
              <a:t>Gutow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9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0790E-79E8-BB05-9B7F-B7E846815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CBB8B-312D-2311-D138-62BA49A30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dirty="0"/>
              <a:t>Variation in Material Density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Variation in Propeller Diameter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Variation in Propeller Thrust Constant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Variation in Motor Time Constant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Variation in drag coefficient (Cd) in X-direction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Variation in drag coefficient (Cd) in Pitching direction</a:t>
            </a:r>
          </a:p>
          <a:p>
            <a:pPr marL="571500" indent="-571500">
              <a:buFont typeface="+mj-lt"/>
              <a:buAutoNum type="romanU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530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2FF0-732A-90D6-7059-7C12CF7CD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116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Variation in Material Density</a:t>
            </a:r>
          </a:p>
        </p:txBody>
      </p:sp>
    </p:spTree>
    <p:extLst>
      <p:ext uri="{BB962C8B-B14F-4D97-AF65-F5344CB8AC3E}">
        <p14:creationId xmlns:p14="http://schemas.microsoft.com/office/powerpoint/2010/main" val="2530205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06816-BECE-8D88-AF07-406485804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Sensitivity of Drone Pitch to Material Density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943F509-39EF-A76D-1EA3-AA76E9ED2B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07360" y="1893358"/>
            <a:ext cx="5946440" cy="40163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1B3035-6570-4570-1EAA-A908BD02C3AC}"/>
              </a:ext>
            </a:extLst>
          </p:cNvPr>
          <p:cNvSpPr txBox="1"/>
          <p:nvPr/>
        </p:nvSpPr>
        <p:spPr>
          <a:xfrm>
            <a:off x="838200" y="2015067"/>
            <a:ext cx="44534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absolute pitch angle of the drone decreases with increase in the material density of the drone; for a given value of wind speed.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absolute pitch angle of the drone increases, with an increase in the wind speed – for a given density of drone material.</a:t>
            </a:r>
          </a:p>
        </p:txBody>
      </p:sp>
    </p:spTree>
    <p:extLst>
      <p:ext uri="{BB962C8B-B14F-4D97-AF65-F5344CB8AC3E}">
        <p14:creationId xmlns:p14="http://schemas.microsoft.com/office/powerpoint/2010/main" val="3823655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929C9-2903-A783-B882-CCEC74F93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Sensitivity of  Angular Velocity of Propeller 1 and Propeller 2 to Material Density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680D295-AA5F-EDD0-3320-5DE1CF3A6E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8068" y="1772478"/>
            <a:ext cx="5181600" cy="35608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4C91AC-0130-D821-D86F-D5ED9F1C3CB3}"/>
              </a:ext>
            </a:extLst>
          </p:cNvPr>
          <p:cNvSpPr txBox="1"/>
          <p:nvPr/>
        </p:nvSpPr>
        <p:spPr>
          <a:xfrm>
            <a:off x="618068" y="5694364"/>
            <a:ext cx="11220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absolute angular velocity of  propeller 1 and 2 decreases with an increase in wind velocity.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However, the absolute angular velocity of propeller 1 and 2 increases, with an increase in material density.</a:t>
            </a:r>
          </a:p>
        </p:txBody>
      </p:sp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87153457-FB94-A938-D98D-42D50C836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2334" y="1772478"/>
            <a:ext cx="5446608" cy="3720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616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6F72C-EDE6-8520-C6E9-DEB80DA4C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Sensitivity of Angular Velocity of Propeller 3 and Propeller 4 to Material Density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CDA094-E090-D25A-CEE4-63711A19F6D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28135" y="1918507"/>
            <a:ext cx="5181600" cy="3539040"/>
          </a:xfrm>
          <a:prstGeom prst="rect">
            <a:avLst/>
          </a:prstGeo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ECE6C430-512A-5BEE-710F-9F89DB213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266" y="1918507"/>
            <a:ext cx="5181600" cy="35608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845401-4A12-B973-B2FC-4C010E0C7896}"/>
              </a:ext>
            </a:extLst>
          </p:cNvPr>
          <p:cNvSpPr txBox="1"/>
          <p:nvPr/>
        </p:nvSpPr>
        <p:spPr>
          <a:xfrm>
            <a:off x="838200" y="5707179"/>
            <a:ext cx="11220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absolute angular velocity of  propeller 3 and 4 increases with an increase in wind velocity.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Also, the absolute angular velocity of propeller 3 and 4 increases, with an increase in material density.</a:t>
            </a:r>
          </a:p>
        </p:txBody>
      </p:sp>
    </p:spTree>
    <p:extLst>
      <p:ext uri="{BB962C8B-B14F-4D97-AF65-F5344CB8AC3E}">
        <p14:creationId xmlns:p14="http://schemas.microsoft.com/office/powerpoint/2010/main" val="3166382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033C1-EC64-0E10-8F43-09D9814DE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Sensitivity of  Aerodynamic Drag on Propeller 1 and Propeller 2 to Material Density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63FC65-5E34-26E5-01F1-9E82135B83C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2735" y="1960018"/>
            <a:ext cx="5181600" cy="3506818"/>
          </a:xfrm>
          <a:prstGeom prst="rect">
            <a:avLst/>
          </a:prstGeo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1FB9C211-D0F8-3B5E-201B-2BAF8198B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667" y="1960018"/>
            <a:ext cx="5181600" cy="35282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43C5BD-3998-A462-F567-7849C98A60F2}"/>
              </a:ext>
            </a:extLst>
          </p:cNvPr>
          <p:cNvSpPr txBox="1"/>
          <p:nvPr/>
        </p:nvSpPr>
        <p:spPr>
          <a:xfrm>
            <a:off x="485563" y="5736166"/>
            <a:ext cx="11220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absolute value of drag force on blades of propeller 1 and 2 decreases with an increase in wind velocity.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However, the absolute drag force on propeller 1 and 2 increases, with an increase in material density.</a:t>
            </a:r>
          </a:p>
        </p:txBody>
      </p:sp>
    </p:spTree>
    <p:extLst>
      <p:ext uri="{BB962C8B-B14F-4D97-AF65-F5344CB8AC3E}">
        <p14:creationId xmlns:p14="http://schemas.microsoft.com/office/powerpoint/2010/main" val="3450432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D314F-4FAE-55E3-23C0-7BE84435D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Sensitivity of  Aerodynamic Drag on Propeller 3 and Propeller 4 to Material Density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9A0432-840F-337B-91BF-31856793868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8199" y="1991643"/>
            <a:ext cx="5181600" cy="3528234"/>
          </a:xfrm>
          <a:prstGeom prst="rect">
            <a:avLst/>
          </a:prstGeo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E760136-7254-64B9-BF53-9888D936F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2" y="1991643"/>
            <a:ext cx="5213244" cy="35282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12C353-D01D-D4C9-FCD6-F37DA0F43864}"/>
              </a:ext>
            </a:extLst>
          </p:cNvPr>
          <p:cNvSpPr txBox="1"/>
          <p:nvPr/>
        </p:nvSpPr>
        <p:spPr>
          <a:xfrm>
            <a:off x="561765" y="5741046"/>
            <a:ext cx="11220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absolute value of drag force on blades of propeller 3 and 4 increases with an increase in wind velocity.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Also, the absolute drag of propeller 3 and 4 increases, with an increase in material density.</a:t>
            </a:r>
          </a:p>
        </p:txBody>
      </p:sp>
    </p:spTree>
    <p:extLst>
      <p:ext uri="{BB962C8B-B14F-4D97-AF65-F5344CB8AC3E}">
        <p14:creationId xmlns:p14="http://schemas.microsoft.com/office/powerpoint/2010/main" val="725748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BFB95-8BAE-775B-0DA4-64158EA69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Sensitivity of  thrust produced by Propeller 1 and Propeller 2 to Material Density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B09B79-6C82-2C5A-7C33-C33421DC8DF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8200" y="1933001"/>
            <a:ext cx="5181600" cy="3560853"/>
          </a:xfrm>
          <a:prstGeom prst="rect">
            <a:avLst/>
          </a:prstGeo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6E9A45CD-910C-3CAE-4A82-EEB7986D1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933000"/>
            <a:ext cx="5181600" cy="35608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9E5DF4-D91F-9796-2A67-3C982D50B5B0}"/>
              </a:ext>
            </a:extLst>
          </p:cNvPr>
          <p:cNvSpPr txBox="1"/>
          <p:nvPr/>
        </p:nvSpPr>
        <p:spPr>
          <a:xfrm>
            <a:off x="838200" y="5846544"/>
            <a:ext cx="11220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thrust force produced by propeller 1 and 2 decreases with an increase in wind velocity.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However, the thrust force required from propeller 1 and 2 increases, with an increase in material density.</a:t>
            </a:r>
          </a:p>
        </p:txBody>
      </p:sp>
    </p:spTree>
    <p:extLst>
      <p:ext uri="{BB962C8B-B14F-4D97-AF65-F5344CB8AC3E}">
        <p14:creationId xmlns:p14="http://schemas.microsoft.com/office/powerpoint/2010/main" val="1689040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1F548-2C4D-50C6-2425-691185354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Sensitivity of  Thrust produced by Propeller 1 and Propeller 2 to Material Density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FE0D82-BF82-29DC-1437-86AA4424218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8200" y="1879094"/>
            <a:ext cx="5181600" cy="3588499"/>
          </a:xfrm>
          <a:prstGeom prst="rect">
            <a:avLst/>
          </a:prstGeo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815DF763-D111-D817-B98E-1353716889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2" y="1879094"/>
            <a:ext cx="5181600" cy="35884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45FAF1-3353-8FBD-ECF7-9008D7A51EEB}"/>
              </a:ext>
            </a:extLst>
          </p:cNvPr>
          <p:cNvSpPr txBox="1"/>
          <p:nvPr/>
        </p:nvSpPr>
        <p:spPr>
          <a:xfrm>
            <a:off x="838200" y="5783379"/>
            <a:ext cx="11220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thrust force produced by  propeller 3 and 4 increases with an increase in wind velocity.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Also, the the thrust force required from propeller 3 and 4 increases, with an increase in material density.</a:t>
            </a:r>
          </a:p>
        </p:txBody>
      </p:sp>
    </p:spTree>
    <p:extLst>
      <p:ext uri="{BB962C8B-B14F-4D97-AF65-F5344CB8AC3E}">
        <p14:creationId xmlns:p14="http://schemas.microsoft.com/office/powerpoint/2010/main" val="4202689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8359D-499C-565D-393E-EC1E760D5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Sensitivity of  Current required by Motor 1 and Motor 2 to Material Density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E400EF-38C7-151A-601C-10457AB1CA1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8200" y="1842977"/>
            <a:ext cx="5181600" cy="3588499"/>
          </a:xfrm>
          <a:prstGeom prst="rect">
            <a:avLst/>
          </a:prstGeo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97683591-2A18-C114-A362-E1398D196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2" y="1842976"/>
            <a:ext cx="5181600" cy="35884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A6B045-28B2-23E4-3D10-88C83B7FF703}"/>
              </a:ext>
            </a:extLst>
          </p:cNvPr>
          <p:cNvSpPr txBox="1"/>
          <p:nvPr/>
        </p:nvSpPr>
        <p:spPr>
          <a:xfrm>
            <a:off x="561765" y="5681779"/>
            <a:ext cx="11220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current required by motor 1 and motor 2, decreases with an increase in wind velocity.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However, the current required by motor 1 and motor 2 increases, with an increase in material density.</a:t>
            </a:r>
          </a:p>
        </p:txBody>
      </p:sp>
    </p:spTree>
    <p:extLst>
      <p:ext uri="{BB962C8B-B14F-4D97-AF65-F5344CB8AC3E}">
        <p14:creationId xmlns:p14="http://schemas.microsoft.com/office/powerpoint/2010/main" val="2516744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E7B32-D85E-A27D-EEF0-DFDE1B26D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Sensitivity of  Current required by Motor 1 and Motor 2 to Material Density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D8BE03-AA00-80EE-A1F6-A5ED0647329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8200" y="1851444"/>
            <a:ext cx="5181600" cy="3588499"/>
          </a:xfrm>
          <a:prstGeom prst="rect">
            <a:avLst/>
          </a:prstGeo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14B0F5E1-C9AB-27E5-DE41-0998BC5A5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2" y="1851444"/>
            <a:ext cx="5181600" cy="35884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E20713-B344-09B5-CAE3-647D7CC9C8BA}"/>
              </a:ext>
            </a:extLst>
          </p:cNvPr>
          <p:cNvSpPr txBox="1"/>
          <p:nvPr/>
        </p:nvSpPr>
        <p:spPr>
          <a:xfrm>
            <a:off x="561765" y="5690245"/>
            <a:ext cx="11220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current required by motor 1 and motor 2, increases with an increase in wind velocity.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Also, the current required by motor 1 and motor 2 increases, with an increase in material density.</a:t>
            </a:r>
          </a:p>
        </p:txBody>
      </p:sp>
    </p:spTree>
    <p:extLst>
      <p:ext uri="{BB962C8B-B14F-4D97-AF65-F5344CB8AC3E}">
        <p14:creationId xmlns:p14="http://schemas.microsoft.com/office/powerpoint/2010/main" val="172317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08BF7-3C3A-6EA5-640A-23EC5EBF2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Variation in Propeller Diameter</a:t>
            </a:r>
          </a:p>
        </p:txBody>
      </p:sp>
    </p:spTree>
    <p:extLst>
      <p:ext uri="{BB962C8B-B14F-4D97-AF65-F5344CB8AC3E}">
        <p14:creationId xmlns:p14="http://schemas.microsoft.com/office/powerpoint/2010/main" val="220451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C92EF-4DB3-BD63-2DEA-CF760BE37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Sensitivity of Drone Pitch to Propeller Diameter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78A6C-2A23-0C7B-624B-8457E5981FA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absolute pitch angle of the drone chassis increases with an increase in the wind speed.</a:t>
            </a:r>
          </a:p>
          <a:p>
            <a:r>
              <a:rPr lang="en-US" dirty="0"/>
              <a:t>However, the pitch angle of the drone chassis is not affected by the size of the diameter of its propellers.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D5C25CA-8697-8C7E-36B9-05C933B4635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263595"/>
            <a:ext cx="5181600" cy="349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7255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C293C-7351-B152-03F3-C14245365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Sensitivity of Angular Velocity of Propeller 1 and 2 to the Propeller Diameter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F821C41-E5C2-51CB-4898-B2DEAED3833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8200" y="1856800"/>
            <a:ext cx="5181600" cy="3560853"/>
          </a:xfrm>
          <a:prstGeom prst="rect">
            <a:avLst/>
          </a:prstGeom>
        </p:spPr>
      </p:pic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3E612F2F-8F0B-0127-8CE4-84FF7C343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2" y="1867706"/>
            <a:ext cx="5181600" cy="35390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E71D02-9ECC-1985-E2E2-3A1A939EFE44}"/>
              </a:ext>
            </a:extLst>
          </p:cNvPr>
          <p:cNvSpPr txBox="1"/>
          <p:nvPr/>
        </p:nvSpPr>
        <p:spPr>
          <a:xfrm>
            <a:off x="561765" y="5594671"/>
            <a:ext cx="11220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absolute angular velocity of propeller 1 and 2, decreases with an increase in wind velocity.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Also, the absolute angular velocity of propeller 1 and 2 decreases, with an increase in propeller diameter.</a:t>
            </a:r>
          </a:p>
        </p:txBody>
      </p:sp>
    </p:spTree>
    <p:extLst>
      <p:ext uri="{BB962C8B-B14F-4D97-AF65-F5344CB8AC3E}">
        <p14:creationId xmlns:p14="http://schemas.microsoft.com/office/powerpoint/2010/main" val="35322860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46701-83E1-5FDA-83B4-FF173D22E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Sensitivity of Angular Velocity of Propeller 3 and 4 to the Propeller Diameter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284AB61-548B-5621-A308-6C63F9F3B15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8200" y="1817577"/>
            <a:ext cx="5181600" cy="3588499"/>
          </a:xfrm>
          <a:prstGeom prst="rect">
            <a:avLst/>
          </a:prstGeom>
        </p:spPr>
      </p:pic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6BDD66DA-3574-119E-A4EE-EEB2904A2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00782"/>
            <a:ext cx="5181600" cy="36052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BEE61C-C79B-9349-CF59-D7B449A40340}"/>
              </a:ext>
            </a:extLst>
          </p:cNvPr>
          <p:cNvSpPr txBox="1"/>
          <p:nvPr/>
        </p:nvSpPr>
        <p:spPr>
          <a:xfrm>
            <a:off x="561763" y="5594671"/>
            <a:ext cx="11220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absolute angular velocity of propeller 3 and 4, increases with an increase in wind velocity.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However, the absolute angular velocity of propeller 3 and 4 decreases, with an increase in propeller diameter.</a:t>
            </a:r>
          </a:p>
        </p:txBody>
      </p:sp>
    </p:spTree>
    <p:extLst>
      <p:ext uri="{BB962C8B-B14F-4D97-AF65-F5344CB8AC3E}">
        <p14:creationId xmlns:p14="http://schemas.microsoft.com/office/powerpoint/2010/main" val="35506167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62EBA-FA2A-D18C-0CD5-ACE132F01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Sensitivity of Drag force on Propeller 1 and 2 to the Propeller Diameter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3A5AC25-CB4C-9932-F59A-C8687D9B5E5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8200" y="1824551"/>
            <a:ext cx="5181600" cy="3506818"/>
          </a:xfrm>
          <a:prstGeom prst="rect">
            <a:avLst/>
          </a:prstGeom>
        </p:spPr>
      </p:pic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8DDB35D4-5F80-222E-9B1C-1678B7778C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2" y="1824551"/>
            <a:ext cx="5181600" cy="35282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16F74E-77D6-6142-38F6-104642C1FF3D}"/>
              </a:ext>
            </a:extLst>
          </p:cNvPr>
          <p:cNvSpPr txBox="1"/>
          <p:nvPr/>
        </p:nvSpPr>
        <p:spPr>
          <a:xfrm>
            <a:off x="561765" y="5594671"/>
            <a:ext cx="11220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absolute drag force on propeller 1 and 2, decreases with an increase in wind velocity.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However, the absolute drag force propeller 1 and 2 increases, with an increase in propeller diameter.</a:t>
            </a:r>
          </a:p>
        </p:txBody>
      </p:sp>
    </p:spTree>
    <p:extLst>
      <p:ext uri="{BB962C8B-B14F-4D97-AF65-F5344CB8AC3E}">
        <p14:creationId xmlns:p14="http://schemas.microsoft.com/office/powerpoint/2010/main" val="2280140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3567A-A72F-3BF0-69A8-D414A3B71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Sensitivity of Drag force on Propeller 3 and 4 to the Propeller Diameter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71E5DC2-2042-8B20-54F8-9A6B8CE2D41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8200" y="1805377"/>
            <a:ext cx="5181600" cy="3528234"/>
          </a:xfrm>
          <a:prstGeom prst="rect">
            <a:avLst/>
          </a:prstGeom>
        </p:spPr>
      </p:pic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7624BE0B-64AF-5CDD-C3C6-7D9CAB19D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6793"/>
            <a:ext cx="5181600" cy="35068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447C8A-B436-51A0-A010-0F689CAB9A77}"/>
              </a:ext>
            </a:extLst>
          </p:cNvPr>
          <p:cNvSpPr txBox="1"/>
          <p:nvPr/>
        </p:nvSpPr>
        <p:spPr>
          <a:xfrm>
            <a:off x="561763" y="5569271"/>
            <a:ext cx="11220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absolute drag force on propeller 3 and 4, increases with an increase in wind velocity.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Also, the absolute drag force on propeller 3 and 4 increases, with an increase in propeller diameter.</a:t>
            </a:r>
          </a:p>
        </p:txBody>
      </p:sp>
    </p:spTree>
    <p:extLst>
      <p:ext uri="{BB962C8B-B14F-4D97-AF65-F5344CB8AC3E}">
        <p14:creationId xmlns:p14="http://schemas.microsoft.com/office/powerpoint/2010/main" val="1937946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D9308-C293-DD42-7AB6-5DD7A047D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Sensitivity Thrust force produced by Propeller 1 and 2 to the Propeller Diameter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783F24B-96F6-A3C3-7A46-99000903363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8200" y="1876844"/>
            <a:ext cx="5181600" cy="3588499"/>
          </a:xfrm>
          <a:prstGeom prst="rect">
            <a:avLst/>
          </a:prstGeom>
        </p:spPr>
      </p:pic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01C6248A-2A08-6ACA-16CE-344CC14A9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2" y="1876844"/>
            <a:ext cx="5181600" cy="35884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8EEF87-27FC-7AE1-5C16-112835AF2B03}"/>
              </a:ext>
            </a:extLst>
          </p:cNvPr>
          <p:cNvSpPr txBox="1"/>
          <p:nvPr/>
        </p:nvSpPr>
        <p:spPr>
          <a:xfrm>
            <a:off x="561765" y="5651499"/>
            <a:ext cx="11220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thrust produced by propeller 1 and 2, decreases with an increase in wind velocity.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thrust required from propeller 1 and 2 remains unaffected by an increase in propeller diameter.</a:t>
            </a:r>
          </a:p>
        </p:txBody>
      </p:sp>
    </p:spTree>
    <p:extLst>
      <p:ext uri="{BB962C8B-B14F-4D97-AF65-F5344CB8AC3E}">
        <p14:creationId xmlns:p14="http://schemas.microsoft.com/office/powerpoint/2010/main" val="37154461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80ED7-6AF8-8142-1313-72BF5B6EB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Sensitivity of Thrust force produced by Propeller 3 and 4 to the Propeller Diameter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2A240AF-F47C-BAE4-32C1-5D182CDF390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8200" y="1868377"/>
            <a:ext cx="5181600" cy="3588499"/>
          </a:xfrm>
          <a:prstGeom prst="rect">
            <a:avLst/>
          </a:prstGeom>
        </p:spPr>
      </p:pic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DEEC036D-BA60-5A26-9E13-833755415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2" y="1868377"/>
            <a:ext cx="5181600" cy="35884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A9E583-CA98-A93C-AD25-5C940EA72C51}"/>
              </a:ext>
            </a:extLst>
          </p:cNvPr>
          <p:cNvSpPr txBox="1"/>
          <p:nvPr/>
        </p:nvSpPr>
        <p:spPr>
          <a:xfrm>
            <a:off x="561765" y="5634565"/>
            <a:ext cx="11220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thrust produced by propeller 3 and 4, increases with an increase in wind velocity.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However, the thrust required from propeller 3 and 4 remains unaffected by an increase in propeller diameter.</a:t>
            </a:r>
          </a:p>
        </p:txBody>
      </p:sp>
    </p:spTree>
    <p:extLst>
      <p:ext uri="{BB962C8B-B14F-4D97-AF65-F5344CB8AC3E}">
        <p14:creationId xmlns:p14="http://schemas.microsoft.com/office/powerpoint/2010/main" val="15904114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CAEF1-4B82-33DC-6A41-1D9FF3E99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Sensitivity of the Current required by Motor 1 and 2 to the Propeller Diameter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BB6A761-8FC2-2AA8-B5A2-66218246556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8200" y="1859911"/>
            <a:ext cx="5181600" cy="3588499"/>
          </a:xfrm>
          <a:prstGeom prst="rect">
            <a:avLst/>
          </a:prstGeom>
        </p:spPr>
      </p:pic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A1E68DCD-934D-D375-BB61-FA16681C8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59911"/>
            <a:ext cx="5181600" cy="35884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5F63D7-C725-08B4-4DF8-9CE91682A7C0}"/>
              </a:ext>
            </a:extLst>
          </p:cNvPr>
          <p:cNvSpPr txBox="1"/>
          <p:nvPr/>
        </p:nvSpPr>
        <p:spPr>
          <a:xfrm>
            <a:off x="561763" y="5679338"/>
            <a:ext cx="112208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current required by motor 1 and 2, decreases with an increase in wind velocity.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However, the current required by motor 1 and 2 decreases, with an increase in propeller diameter.</a:t>
            </a:r>
          </a:p>
          <a:p>
            <a:r>
              <a:rPr lang="en-US" dirty="0"/>
              <a:t>(except for the change in diameter from 0.3 to 0.32)</a:t>
            </a:r>
          </a:p>
        </p:txBody>
      </p:sp>
    </p:spTree>
    <p:extLst>
      <p:ext uri="{BB962C8B-B14F-4D97-AF65-F5344CB8AC3E}">
        <p14:creationId xmlns:p14="http://schemas.microsoft.com/office/powerpoint/2010/main" val="24276160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ABE23-ABA3-E54D-E05C-1441D1318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Sensitivity of the current required by Motor 3 and 4 to the Propeller Diameter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B3A32A8-59A1-138C-F6B7-FD6A494D137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8200" y="1800644"/>
            <a:ext cx="5181600" cy="3588499"/>
          </a:xfrm>
          <a:prstGeom prst="rect">
            <a:avLst/>
          </a:prstGeom>
        </p:spPr>
      </p:pic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26481109-6438-43EF-7F64-C0C43183B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2" y="1800644"/>
            <a:ext cx="5181600" cy="35884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C08774D-49D4-5111-9FFB-548AA1465689}"/>
              </a:ext>
            </a:extLst>
          </p:cNvPr>
          <p:cNvSpPr txBox="1"/>
          <p:nvPr/>
        </p:nvSpPr>
        <p:spPr>
          <a:xfrm>
            <a:off x="561765" y="5499099"/>
            <a:ext cx="112208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current required by motor 3 and 4, increases with an increase in wind velocity.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Also, the current required by motor 1 and 2 decreases, with an increase in propeller diameter.</a:t>
            </a:r>
          </a:p>
          <a:p>
            <a:r>
              <a:rPr lang="en-US" dirty="0"/>
              <a:t>(except for the change in diameter from 0.3 to 0.32)</a:t>
            </a:r>
          </a:p>
        </p:txBody>
      </p:sp>
    </p:spTree>
    <p:extLst>
      <p:ext uri="{BB962C8B-B14F-4D97-AF65-F5344CB8AC3E}">
        <p14:creationId xmlns:p14="http://schemas.microsoft.com/office/powerpoint/2010/main" val="19159195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8196D-981E-0E5E-7DC6-E4BF2B31E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Variation in Propeller Thrust Constant</a:t>
            </a:r>
          </a:p>
        </p:txBody>
      </p:sp>
    </p:spTree>
    <p:extLst>
      <p:ext uri="{BB962C8B-B14F-4D97-AF65-F5344CB8AC3E}">
        <p14:creationId xmlns:p14="http://schemas.microsoft.com/office/powerpoint/2010/main" val="18293214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BA95C-9A68-AF36-FFBA-2311E3FEF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Sensitivity of Drone Pitch to Propeller Thrust Constant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00AFF-BBAE-B1DC-A6ED-86F51F66175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absolute pitch angle of drone increases with an increase in wind speed.</a:t>
            </a:r>
          </a:p>
          <a:p>
            <a:r>
              <a:rPr lang="en-US" dirty="0"/>
              <a:t>However, the pitch angle of drone remains unaffected by an increase in propeller thrust constant.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CF94AC-753C-D69B-8408-25EF033D0CF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251403"/>
            <a:ext cx="5181600" cy="349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6452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5F605-2CDA-C544-0BAD-EC9D27C99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Sensitivity of Angular Velocity of Propeller 1 and 2 to Propeller Thrust Constant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CCC7F0-384B-B941-4D3E-8085E0A342E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8200" y="1882200"/>
            <a:ext cx="5181600" cy="3560853"/>
          </a:xfrm>
          <a:prstGeom prst="rect">
            <a:avLst/>
          </a:prstGeo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6ACB940-F805-B05C-C3C1-55A256C26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2" y="1893106"/>
            <a:ext cx="5181600" cy="35390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9E92E3-B150-8A80-6043-C0729D6EFB6F}"/>
              </a:ext>
            </a:extLst>
          </p:cNvPr>
          <p:cNvSpPr txBox="1"/>
          <p:nvPr/>
        </p:nvSpPr>
        <p:spPr>
          <a:xfrm>
            <a:off x="561765" y="5645471"/>
            <a:ext cx="112208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absolute angular velocity propeller 1 and 2, decreases with an increase in wind velocity.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Also, the absolute angular velocity of propeller 1 and 2, decreases with an increase in  propeller thrust constant.</a:t>
            </a:r>
          </a:p>
        </p:txBody>
      </p:sp>
    </p:spTree>
    <p:extLst>
      <p:ext uri="{BB962C8B-B14F-4D97-AF65-F5344CB8AC3E}">
        <p14:creationId xmlns:p14="http://schemas.microsoft.com/office/powerpoint/2010/main" val="38281139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AF23A-C8D1-78C6-1A84-72815BD5D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Sensitivity of Angular Velocity of Propeller 3 and 4 to Propeller Thrust Constant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804188-207F-F35F-FB60-A17C1849597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8200" y="1876174"/>
            <a:ext cx="5181600" cy="3539040"/>
          </a:xfrm>
          <a:prstGeom prst="rect">
            <a:avLst/>
          </a:prstGeo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3AF9D86E-6FF0-2891-D72D-9BA69FE42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76174"/>
            <a:ext cx="5181600" cy="35608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A168F4-F7BA-E1FF-3B7B-5C91198E54C5}"/>
              </a:ext>
            </a:extLst>
          </p:cNvPr>
          <p:cNvSpPr txBox="1"/>
          <p:nvPr/>
        </p:nvSpPr>
        <p:spPr>
          <a:xfrm>
            <a:off x="561763" y="5569545"/>
            <a:ext cx="112208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absolute angular velocity propeller 3 and 4, increases with an increase in wind velocity.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However, the absolute angular velocity of propeller 3 and 4, decreases with an increase in  propeller thrust constant.</a:t>
            </a:r>
          </a:p>
        </p:txBody>
      </p:sp>
    </p:spTree>
    <p:extLst>
      <p:ext uri="{BB962C8B-B14F-4D97-AF65-F5344CB8AC3E}">
        <p14:creationId xmlns:p14="http://schemas.microsoft.com/office/powerpoint/2010/main" val="37168721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FDD89-CE61-59DB-FA4A-2B7A168A1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Sensitivity of Drag force on Propeller 1 and 2 to Propeller Thrust Constant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E06B55-01A9-0EDA-33FB-1E7FD789BC4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8200" y="1866885"/>
            <a:ext cx="5181600" cy="3506818"/>
          </a:xfrm>
          <a:prstGeom prst="rect">
            <a:avLst/>
          </a:prstGeo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60EF4BCF-8FC6-C314-C23C-B6D38F6F9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66885"/>
            <a:ext cx="5181600" cy="35282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D21E1F-A438-07C7-275E-776E861AD427}"/>
              </a:ext>
            </a:extLst>
          </p:cNvPr>
          <p:cNvSpPr txBox="1"/>
          <p:nvPr/>
        </p:nvSpPr>
        <p:spPr>
          <a:xfrm>
            <a:off x="561763" y="5549900"/>
            <a:ext cx="11220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absolute drag force on propeller 1 and 2, decreases with an increase in wind velocity.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absolute drag force on propeller 1 and 2, also decreases with an increase in  propeller thrust constant.</a:t>
            </a:r>
          </a:p>
        </p:txBody>
      </p:sp>
    </p:spTree>
    <p:extLst>
      <p:ext uri="{BB962C8B-B14F-4D97-AF65-F5344CB8AC3E}">
        <p14:creationId xmlns:p14="http://schemas.microsoft.com/office/powerpoint/2010/main" val="12013486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90BFF-AF60-74A3-678F-880F2885F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Sensitivity of Drag force on Propeller 3 and 4 to Propeller Thrust Constant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FFB59B-F910-0B33-A962-192C606F53E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8200" y="1847711"/>
            <a:ext cx="5181600" cy="3528234"/>
          </a:xfrm>
          <a:prstGeom prst="rect">
            <a:avLst/>
          </a:prstGeo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5DA98148-0C78-2478-AC60-CEDC6269D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47711"/>
            <a:ext cx="5181600" cy="35068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C9E8A3-9C5A-794F-6F49-028951E32C68}"/>
              </a:ext>
            </a:extLst>
          </p:cNvPr>
          <p:cNvSpPr txBox="1"/>
          <p:nvPr/>
        </p:nvSpPr>
        <p:spPr>
          <a:xfrm>
            <a:off x="561763" y="5511552"/>
            <a:ext cx="112208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absolute drag force on propeller 3 and 4, increases with an increase in wind velocity.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However, the absolute drag force on propeller 3 and 4, decreases with an increase in  propeller thrust constant.</a:t>
            </a:r>
          </a:p>
        </p:txBody>
      </p:sp>
    </p:spTree>
    <p:extLst>
      <p:ext uri="{BB962C8B-B14F-4D97-AF65-F5344CB8AC3E}">
        <p14:creationId xmlns:p14="http://schemas.microsoft.com/office/powerpoint/2010/main" val="21017270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F94D5-4A45-90CD-3F67-1854BD1E9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Sensitivity of Thrust produced by Propeller 1 and 2 to Propeller Thrust Constant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53756F-1974-94DD-96B6-94188753296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8200" y="1864994"/>
            <a:ext cx="5181600" cy="3544468"/>
          </a:xfrm>
          <a:prstGeom prst="rect">
            <a:avLst/>
          </a:prstGeo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A3F27477-4DF7-1AE9-07F5-DB4AB7C83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2" y="1864994"/>
            <a:ext cx="5181600" cy="35444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53ADB4-529F-4E4C-E5E5-17AADAEBE1D3}"/>
              </a:ext>
            </a:extLst>
          </p:cNvPr>
          <p:cNvSpPr txBox="1"/>
          <p:nvPr/>
        </p:nvSpPr>
        <p:spPr>
          <a:xfrm>
            <a:off x="561765" y="5645471"/>
            <a:ext cx="112208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thrust force produced by propeller 1 and 2, decreases with an increase in wind velocity.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However, the thrust force produced by propeller 1 and 2, remains unaffected by an increase in  propeller thrust constant.</a:t>
            </a:r>
          </a:p>
        </p:txBody>
      </p:sp>
    </p:spTree>
    <p:extLst>
      <p:ext uri="{BB962C8B-B14F-4D97-AF65-F5344CB8AC3E}">
        <p14:creationId xmlns:p14="http://schemas.microsoft.com/office/powerpoint/2010/main" val="14771529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D6806-11C4-E1E9-B69A-FEF22CE91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Sensitivity of Thrust produced by Propeller 3 and 4 to Propeller Thrust Constant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B87FA3-5348-C79A-1D99-AF5C166516E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8200" y="1898860"/>
            <a:ext cx="5181600" cy="3544468"/>
          </a:xfrm>
          <a:prstGeom prst="rect">
            <a:avLst/>
          </a:prstGeo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E9D0DB3E-5E3B-682F-6201-320525A98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2" y="1898860"/>
            <a:ext cx="5181600" cy="35444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BE90D9-78BC-B29D-FF82-89FA2C5A1B63}"/>
              </a:ext>
            </a:extLst>
          </p:cNvPr>
          <p:cNvSpPr txBox="1"/>
          <p:nvPr/>
        </p:nvSpPr>
        <p:spPr>
          <a:xfrm>
            <a:off x="561765" y="5651500"/>
            <a:ext cx="112208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thrust force produced by propeller 3 and 4, increases with an increase in wind velocity.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Also, the thrust force produced by propeller 3 and 4, remains unaffected by an increase in  propeller thrust constant.</a:t>
            </a:r>
          </a:p>
        </p:txBody>
      </p:sp>
    </p:spTree>
    <p:extLst>
      <p:ext uri="{BB962C8B-B14F-4D97-AF65-F5344CB8AC3E}">
        <p14:creationId xmlns:p14="http://schemas.microsoft.com/office/powerpoint/2010/main" val="9171944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9BD27-3975-8455-D79B-4E34FDC48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Sensitivity of Current required by Motor 1 and 2 to Propeller Thrust Constant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C4337B-E482-260A-1BFE-FB07D46D83A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8200" y="1907600"/>
            <a:ext cx="5181600" cy="3560853"/>
          </a:xfrm>
          <a:prstGeom prst="rect">
            <a:avLst/>
          </a:prstGeo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EFECC232-0A28-F148-A92A-D26454649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2" y="1907600"/>
            <a:ext cx="5181600" cy="35608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6C79EA-4751-B797-E628-9609B3A1C592}"/>
              </a:ext>
            </a:extLst>
          </p:cNvPr>
          <p:cNvSpPr txBox="1"/>
          <p:nvPr/>
        </p:nvSpPr>
        <p:spPr>
          <a:xfrm>
            <a:off x="561765" y="5569545"/>
            <a:ext cx="11220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current required by motor 1 and 2, decreases with an increase in wind velocity.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Also, the current required by motor 1 and 2, decreases with an increase in  propeller thrust constant.</a:t>
            </a:r>
          </a:p>
        </p:txBody>
      </p:sp>
    </p:spTree>
    <p:extLst>
      <p:ext uri="{BB962C8B-B14F-4D97-AF65-F5344CB8AC3E}">
        <p14:creationId xmlns:p14="http://schemas.microsoft.com/office/powerpoint/2010/main" val="42838336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D1E8D-0F1A-9EB4-0222-57B5E213D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Sensitivity of Current Required by Motor 1 and 2 to Propeller Thrust Constant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0A1BE2-6EAB-DAE9-C5EE-878E37E44D8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8200" y="1876844"/>
            <a:ext cx="5181600" cy="3588499"/>
          </a:xfrm>
          <a:prstGeom prst="rect">
            <a:avLst/>
          </a:prstGeo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E131619E-E10F-8B08-8EE9-BF91E8DF4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76843"/>
            <a:ext cx="5181600" cy="35884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8C0135-A242-5B74-3D82-A8DA188FA096}"/>
              </a:ext>
            </a:extLst>
          </p:cNvPr>
          <p:cNvSpPr txBox="1"/>
          <p:nvPr/>
        </p:nvSpPr>
        <p:spPr>
          <a:xfrm>
            <a:off x="561763" y="5569545"/>
            <a:ext cx="11220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current required by motor 1 and 2, increases with an increase in wind velocity.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However, the current required by motor 1 and 2, decreases with an increase in  propeller thrust constant.</a:t>
            </a:r>
          </a:p>
        </p:txBody>
      </p:sp>
    </p:spTree>
    <p:extLst>
      <p:ext uri="{BB962C8B-B14F-4D97-AF65-F5344CB8AC3E}">
        <p14:creationId xmlns:p14="http://schemas.microsoft.com/office/powerpoint/2010/main" val="4163375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CE2FC-3D4B-B4E3-3230-7B9FE0656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/>
              <a:t>Variation in Motor Time Constant</a:t>
            </a:r>
          </a:p>
        </p:txBody>
      </p:sp>
    </p:spTree>
    <p:extLst>
      <p:ext uri="{BB962C8B-B14F-4D97-AF65-F5344CB8AC3E}">
        <p14:creationId xmlns:p14="http://schemas.microsoft.com/office/powerpoint/2010/main" val="29182849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590D3-244E-2930-89E7-AE7217387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4BC34-1382-AFE6-FCDA-C732CC9C907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E79975-9CA2-B0A9-6F76-6E873A1B073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92446" y="1825624"/>
            <a:ext cx="5799554" cy="3776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5331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7C67B-F98D-A216-7799-75A93F2F4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75"/>
            <a:ext cx="10515600" cy="793974"/>
          </a:xfrm>
        </p:spPr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E3952B4-4CDF-24C5-0113-147BCE8644E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850040" y="850007"/>
            <a:ext cx="4341960" cy="2843212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89E736-41EA-9783-B781-C0CE10BF10E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-1" y="850007"/>
            <a:ext cx="4341959" cy="28480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A8AE9C-1DBE-EB04-3156-74874D3EAE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2016" y="4009971"/>
            <a:ext cx="4349318" cy="28480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FFB8730-705D-C343-20ED-B8CE5FC9D8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0040" y="3979694"/>
            <a:ext cx="4341960" cy="2848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1079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F98D6-997E-5BBE-72B6-F1574EADD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BE91B-F1B1-F3F6-4728-78D7171C7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75"/>
            <a:ext cx="10515600" cy="793974"/>
          </a:xfrm>
        </p:spPr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5530C8-4F2F-9873-D882-1E4B922ED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875888"/>
            <a:ext cx="4380678" cy="28783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BE10B85-C650-FB1D-E837-615C77737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1321" y="875887"/>
            <a:ext cx="4380678" cy="28979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A720000-5C09-6A60-BF28-0A9090EBE3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979694"/>
            <a:ext cx="4350928" cy="28783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E3C203A-1401-FA5A-E451-BD5E26F57E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1321" y="3979694"/>
            <a:ext cx="4380678" cy="2878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8078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66216-D903-FD54-7E2A-2D0EA9E22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9192D-D648-70C9-E175-F90FD0105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75"/>
            <a:ext cx="10515600" cy="793974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7B690C-A836-E276-680D-ED6E71C38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0067"/>
            <a:ext cx="4672145" cy="29496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A591A59-484A-D65F-84AE-3EBEF9598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9853" y="850066"/>
            <a:ext cx="4672146" cy="29496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2376F5-2A93-9BD9-BC71-959E8BDBD6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21" y="3979692"/>
            <a:ext cx="4559179" cy="28783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5A3DBD-9602-D7A3-25AC-09B27A3766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2584" y="3979691"/>
            <a:ext cx="4559181" cy="2878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4914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C658C-5CB7-618B-E942-4D6AA2C8B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F618D-2A18-F169-9468-A8CE3A16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75"/>
            <a:ext cx="10515600" cy="793974"/>
          </a:xfrm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25DA21-101E-AFD9-5B5A-38B6D5875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0066"/>
            <a:ext cx="4382517" cy="29496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2678B4-42B8-6614-B9BB-29A206E38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9482" y="850066"/>
            <a:ext cx="4382518" cy="29496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D7D278-F930-3C07-6146-515BCB1C99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908376"/>
            <a:ext cx="4382517" cy="29496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C411DF-986D-5F67-666B-24CC8F1850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9482" y="3908374"/>
            <a:ext cx="4382518" cy="294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7631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26A2C-FEFC-E74F-8577-DAC05D41E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Variation in Drag Coefficient Cd in Y-direction</a:t>
            </a:r>
          </a:p>
        </p:txBody>
      </p:sp>
    </p:spTree>
    <p:extLst>
      <p:ext uri="{BB962C8B-B14F-4D97-AF65-F5344CB8AC3E}">
        <p14:creationId xmlns:p14="http://schemas.microsoft.com/office/powerpoint/2010/main" val="25329043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7E440-FA72-B85A-20C6-7158FCAA5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2D2AA-366F-4126-F22C-ECF21D2712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4FBC43B-1396-2154-A4E1-0331A1677C7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531885"/>
            <a:ext cx="5181600" cy="2938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204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DD4B6-6C08-87D1-8C49-489D7E584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Variation of Drag Coefficient in Pitch Direction</a:t>
            </a:r>
          </a:p>
        </p:txBody>
      </p:sp>
    </p:spTree>
    <p:extLst>
      <p:ext uri="{BB962C8B-B14F-4D97-AF65-F5344CB8AC3E}">
        <p14:creationId xmlns:p14="http://schemas.microsoft.com/office/powerpoint/2010/main" val="11856438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DF470-2015-2B49-FCC4-52AA53560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3E7B0-C371-3ADA-EF3F-F9884988D6A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BA60077-BE0A-82B9-277F-12BA2AD995C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314158"/>
            <a:ext cx="5181600" cy="3374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6742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D531A-A900-F895-83EA-08B243488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7BBF5-34B5-F833-8036-0DC73A3FF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75"/>
            <a:ext cx="10515600" cy="793974"/>
          </a:xfrm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BAB831-5F3D-2DDB-8E31-D684805C4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4249"/>
            <a:ext cx="5306096" cy="30197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C710C86-0511-6EC9-E386-0BEB0AE75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904" y="824249"/>
            <a:ext cx="5306096" cy="30197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56E6CA9-15EE-18A6-9FA2-B88B9CF38A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38206"/>
            <a:ext cx="5306098" cy="30197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222038F-0BB4-8ACB-A263-F011BCADE5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5902" y="3838206"/>
            <a:ext cx="5306098" cy="30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932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EB32C-C42D-D8AC-7B6B-3D6FABBFD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7DB3A-3BEA-1466-2850-7F9532DB4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75"/>
            <a:ext cx="10515600" cy="793974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DC438D-9F97-5872-4624-F14644444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4249"/>
            <a:ext cx="4859714" cy="30139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A39DA97-D3AE-58BA-20BD-688445F9E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2284" y="824249"/>
            <a:ext cx="4859715" cy="30139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9F804A-9A4B-5023-D9AD-E44292CFDC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44042"/>
            <a:ext cx="4859714" cy="30139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37462C-D562-4EB4-69F8-311278807D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2874" y="3838206"/>
            <a:ext cx="4869126" cy="30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1030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523F0-74C3-3F11-C0CD-4914B4EC0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9736D-909F-44AD-8156-3293FAA59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75"/>
            <a:ext cx="10515600" cy="793974"/>
          </a:xfrm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FF2704-6713-CAD1-628F-0F8D702CA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824250"/>
            <a:ext cx="4859714" cy="28895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0BFACD6-5A8C-6773-247F-7A32C3F06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874" y="824250"/>
            <a:ext cx="4869126" cy="28951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56A053-E13D-BE26-6BBD-F4150E7923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4000897"/>
            <a:ext cx="4859714" cy="28895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B416EF0-68A3-276D-00F7-9DB7E86CE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7669" y="3962844"/>
            <a:ext cx="4869126" cy="2895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9372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B5F04-8B2D-F8DC-936F-9602437EB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1CB51-8DD5-2E7E-2A1C-E4F54E3EC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75"/>
            <a:ext cx="10515600" cy="793974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250E00-F482-9699-0015-0C7DB321A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824250"/>
            <a:ext cx="4662152" cy="29981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5A7F884-7828-61B3-D605-C863DF602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641" y="824250"/>
            <a:ext cx="4662153" cy="29981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C71E0A-C5D5-641B-9294-1057ADE2E6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59878"/>
            <a:ext cx="4662152" cy="29981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EA0403-0E74-BE33-86F8-BD7888D577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642" y="3856530"/>
            <a:ext cx="4667358" cy="3001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945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</TotalTime>
  <Words>1478</Words>
  <Application>Microsoft Macintosh PowerPoint</Application>
  <PresentationFormat>Widescreen</PresentationFormat>
  <Paragraphs>99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Aptos</vt:lpstr>
      <vt:lpstr>Aptos Display</vt:lpstr>
      <vt:lpstr>Arial</vt:lpstr>
      <vt:lpstr>Office Theme</vt:lpstr>
      <vt:lpstr>Indirect Wind-Field Estimation by UAV:  Drone Simulation</vt:lpstr>
      <vt:lpstr>Contents</vt:lpstr>
      <vt:lpstr>Variation in Material Density</vt:lpstr>
      <vt:lpstr>Sensitivity of Drone Pitch to Material Density</vt:lpstr>
      <vt:lpstr>Sensitivity of  Angular Velocity of Propeller 1 and Propeller 2 to Material Density</vt:lpstr>
      <vt:lpstr>Sensitivity of Angular Velocity of Propeller 3 and Propeller 4 to Material Density</vt:lpstr>
      <vt:lpstr>Sensitivity of  Aerodynamic Drag on Propeller 1 and Propeller 2 to Material Density</vt:lpstr>
      <vt:lpstr>Sensitivity of  Aerodynamic Drag on Propeller 3 and Propeller 4 to Material Density</vt:lpstr>
      <vt:lpstr>Sensitivity of  thrust produced by Propeller 1 and Propeller 2 to Material Density</vt:lpstr>
      <vt:lpstr>Sensitivity of  Thrust produced by Propeller 1 and Propeller 2 to Material Density</vt:lpstr>
      <vt:lpstr>Sensitivity of  Current required by Motor 1 and Motor 2 to Material Density</vt:lpstr>
      <vt:lpstr>Sensitivity of  Current required by Motor 1 and Motor 2 to Material Density</vt:lpstr>
      <vt:lpstr>Variation in Propeller Diameter</vt:lpstr>
      <vt:lpstr>Sensitivity of Drone Pitch to Propeller Diameter</vt:lpstr>
      <vt:lpstr>Sensitivity of Angular Velocity of Propeller 1 and 2 to the Propeller Diameter</vt:lpstr>
      <vt:lpstr>Sensitivity of Angular Velocity of Propeller 3 and 4 to the Propeller Diameter</vt:lpstr>
      <vt:lpstr>Sensitivity of Drag force on Propeller 1 and 2 to the Propeller Diameter</vt:lpstr>
      <vt:lpstr>Sensitivity of Drag force on Propeller 3 and 4 to the Propeller Diameter</vt:lpstr>
      <vt:lpstr>Sensitivity Thrust force produced by Propeller 1 and 2 to the Propeller Diameter</vt:lpstr>
      <vt:lpstr>Sensitivity of Thrust force produced by Propeller 3 and 4 to the Propeller Diameter</vt:lpstr>
      <vt:lpstr>Sensitivity of the Current required by Motor 1 and 2 to the Propeller Diameter</vt:lpstr>
      <vt:lpstr>Sensitivity of the current required by Motor 3 and 4 to the Propeller Diameter</vt:lpstr>
      <vt:lpstr>Variation in Propeller Thrust Constant</vt:lpstr>
      <vt:lpstr>Sensitivity of Drone Pitch to Propeller Thrust Constant</vt:lpstr>
      <vt:lpstr>Sensitivity of Angular Velocity of Propeller 1 and 2 to Propeller Thrust Constant</vt:lpstr>
      <vt:lpstr>Sensitivity of Angular Velocity of Propeller 3 and 4 to Propeller Thrust Constant</vt:lpstr>
      <vt:lpstr>Sensitivity of Drag force on Propeller 1 and 2 to Propeller Thrust Constant</vt:lpstr>
      <vt:lpstr>Sensitivity of Drag force on Propeller 3 and 4 to Propeller Thrust Constant</vt:lpstr>
      <vt:lpstr>Sensitivity of Thrust produced by Propeller 1 and 2 to Propeller Thrust Constant</vt:lpstr>
      <vt:lpstr>Sensitivity of Thrust produced by Propeller 3 and 4 to Propeller Thrust Constant</vt:lpstr>
      <vt:lpstr>Sensitivity of Current required by Motor 1 and 2 to Propeller Thrust Constant</vt:lpstr>
      <vt:lpstr>Sensitivity of Current Required by Motor 1 and 2 to Propeller Thrust Constant</vt:lpstr>
      <vt:lpstr>Variation in Motor Time Constant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Variation in Drag Coefficient Cd in Y-direction</vt:lpstr>
      <vt:lpstr>PowerPoint Presentation</vt:lpstr>
      <vt:lpstr>Variation of Drag Coefficient in Pitch Direction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kdeshmu2</dc:creator>
  <cp:lastModifiedBy>kdeshmu2</cp:lastModifiedBy>
  <cp:revision>8</cp:revision>
  <dcterms:created xsi:type="dcterms:W3CDTF">2026-08-05T22:57:36Z</dcterms:created>
  <dcterms:modified xsi:type="dcterms:W3CDTF">2026-08-08T03:50:39Z</dcterms:modified>
</cp:coreProperties>
</file>